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83" r:id="rId2"/>
    <p:sldId id="385" r:id="rId3"/>
    <p:sldId id="386" r:id="rId4"/>
    <p:sldId id="387" r:id="rId5"/>
    <p:sldId id="388" r:id="rId6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44D2D9-1FCB-47D4-8E70-CA3DD2B39590}" v="6" dt="2023-12-09T14:30:11.7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232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Ľubomír Polaščín" userId="cd9ff497de42e6ff" providerId="LiveId" clId="{9C44D2D9-1FCB-47D4-8E70-CA3DD2B39590}"/>
    <pc:docChg chg="undo custSel modSld modMainMaster">
      <pc:chgData name="Ľubomír Polaščín" userId="cd9ff497de42e6ff" providerId="LiveId" clId="{9C44D2D9-1FCB-47D4-8E70-CA3DD2B39590}" dt="2023-12-09T14:30:11.734" v="13" actId="1076"/>
      <pc:docMkLst>
        <pc:docMk/>
      </pc:docMkLst>
      <pc:sldChg chg="modSp mod">
        <pc:chgData name="Ľubomír Polaščín" userId="cd9ff497de42e6ff" providerId="LiveId" clId="{9C44D2D9-1FCB-47D4-8E70-CA3DD2B39590}" dt="2023-12-09T14:28:15.826" v="3" actId="27636"/>
        <pc:sldMkLst>
          <pc:docMk/>
          <pc:sldMk cId="2872529798" sldId="383"/>
        </pc:sldMkLst>
        <pc:spChg chg="mod">
          <ac:chgData name="Ľubomír Polaščín" userId="cd9ff497de42e6ff" providerId="LiveId" clId="{9C44D2D9-1FCB-47D4-8E70-CA3DD2B39590}" dt="2023-12-09T14:28:15.825" v="2" actId="27636"/>
          <ac:spMkLst>
            <pc:docMk/>
            <pc:sldMk cId="2872529798" sldId="383"/>
            <ac:spMk id="3" creationId="{07FE7376-C346-91BF-3D7A-8DAA00FD5B30}"/>
          </ac:spMkLst>
        </pc:spChg>
        <pc:spChg chg="mod">
          <ac:chgData name="Ľubomír Polaščín" userId="cd9ff497de42e6ff" providerId="LiveId" clId="{9C44D2D9-1FCB-47D4-8E70-CA3DD2B39590}" dt="2023-12-09T14:28:15.826" v="3" actId="27636"/>
          <ac:spMkLst>
            <pc:docMk/>
            <pc:sldMk cId="2872529798" sldId="383"/>
            <ac:spMk id="4" creationId="{C40FC280-E746-84F5-6188-476C911FB28E}"/>
          </ac:spMkLst>
        </pc:spChg>
      </pc:sldChg>
      <pc:sldChg chg="modSp">
        <pc:chgData name="Ľubomír Polaščín" userId="cd9ff497de42e6ff" providerId="LiveId" clId="{9C44D2D9-1FCB-47D4-8E70-CA3DD2B39590}" dt="2023-12-09T14:30:11.734" v="13" actId="1076"/>
        <pc:sldMkLst>
          <pc:docMk/>
          <pc:sldMk cId="1262575842" sldId="385"/>
        </pc:sldMkLst>
        <pc:spChg chg="mod">
          <ac:chgData name="Ľubomír Polaščín" userId="cd9ff497de42e6ff" providerId="LiveId" clId="{9C44D2D9-1FCB-47D4-8E70-CA3DD2B39590}" dt="2023-12-09T14:30:11.734" v="13" actId="1076"/>
          <ac:spMkLst>
            <pc:docMk/>
            <pc:sldMk cId="1262575842" sldId="385"/>
            <ac:spMk id="6" creationId="{ACEF6BEC-0875-575E-956B-59A0AB8A5D12}"/>
          </ac:spMkLst>
        </pc:spChg>
      </pc:sldChg>
      <pc:sldMasterChg chg="modSp mod">
        <pc:chgData name="Ľubomír Polaščín" userId="cd9ff497de42e6ff" providerId="LiveId" clId="{9C44D2D9-1FCB-47D4-8E70-CA3DD2B39590}" dt="2023-12-09T14:29:09.604" v="12" actId="120"/>
        <pc:sldMasterMkLst>
          <pc:docMk/>
          <pc:sldMasterMk cId="2578256537" sldId="2147483648"/>
        </pc:sldMasterMkLst>
        <pc:spChg chg="mod">
          <ac:chgData name="Ľubomír Polaščín" userId="cd9ff497de42e6ff" providerId="LiveId" clId="{9C44D2D9-1FCB-47D4-8E70-CA3DD2B39590}" dt="2023-12-09T14:28:32.027" v="8" actId="14100"/>
          <ac:spMkLst>
            <pc:docMk/>
            <pc:sldMasterMk cId="2578256537" sldId="2147483648"/>
            <ac:spMk id="2" creationId="{37867E72-2FF2-9C6A-5CED-8964AA96A383}"/>
          </ac:spMkLst>
        </pc:spChg>
        <pc:spChg chg="mod">
          <ac:chgData name="Ľubomír Polaščín" userId="cd9ff497de42e6ff" providerId="LiveId" clId="{9C44D2D9-1FCB-47D4-8E70-CA3DD2B39590}" dt="2023-12-09T14:28:32.027" v="8" actId="14100"/>
          <ac:spMkLst>
            <pc:docMk/>
            <pc:sldMasterMk cId="2578256537" sldId="2147483648"/>
            <ac:spMk id="3" creationId="{2C684BE5-0CED-2AF6-0433-1ABADC302936}"/>
          </ac:spMkLst>
        </pc:spChg>
        <pc:spChg chg="mod">
          <ac:chgData name="Ľubomír Polaščín" userId="cd9ff497de42e6ff" providerId="LiveId" clId="{9C44D2D9-1FCB-47D4-8E70-CA3DD2B39590}" dt="2023-12-09T14:29:00.045" v="11" actId="255"/>
          <ac:spMkLst>
            <pc:docMk/>
            <pc:sldMasterMk cId="2578256537" sldId="2147483648"/>
            <ac:spMk id="4" creationId="{43DB651A-8CF6-ABBE-BB8E-F234B218D2D5}"/>
          </ac:spMkLst>
        </pc:spChg>
        <pc:spChg chg="mod">
          <ac:chgData name="Ľubomír Polaščín" userId="cd9ff497de42e6ff" providerId="LiveId" clId="{9C44D2D9-1FCB-47D4-8E70-CA3DD2B39590}" dt="2023-12-09T14:29:09.604" v="12" actId="120"/>
          <ac:spMkLst>
            <pc:docMk/>
            <pc:sldMasterMk cId="2578256537" sldId="2147483648"/>
            <ac:spMk id="5" creationId="{FCBAAF15-706D-7EF6-6B41-697BC177D8E7}"/>
          </ac:spMkLst>
        </pc:spChg>
        <pc:spChg chg="mod">
          <ac:chgData name="Ľubomír Polaščín" userId="cd9ff497de42e6ff" providerId="LiveId" clId="{9C44D2D9-1FCB-47D4-8E70-CA3DD2B39590}" dt="2023-12-09T14:29:00.045" v="11" actId="255"/>
          <ac:spMkLst>
            <pc:docMk/>
            <pc:sldMasterMk cId="2578256537" sldId="2147483648"/>
            <ac:spMk id="6" creationId="{77A9130A-DD38-7B99-3C04-868CB7EA3922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304CD6-512B-436A-A81B-91F549A9BAC4}" type="datetimeFigureOut">
              <a:rPr lang="sk-SK" smtClean="0"/>
              <a:t>9. 12. 2023</a:t>
            </a:fld>
            <a:endParaRPr lang="sk-SK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8ABF56-F6B0-4158-AF2C-172D8CEB824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448349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3CD9C2-C44F-F5C6-8E4A-30EDD45E4E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A7F62259-8C03-C112-EDD2-525FE3E30A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5E00F176-D3A5-B374-9522-8A96ED580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k-SK"/>
              <a:t>5. 12. 2023</a:t>
            </a:r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87A00015-E2D5-AC65-DE9D-6F77CBC4F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Regionálna citrátová antikoagulácia, © MUDr. Ľubomír Polaščín, 2023</a:t>
            </a:r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AA60527C-1F50-9052-7B75-2A3398321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A1882-1C6F-4141-A4A4-EBE08B96CD8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67417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BAE4DA0-FAE9-737A-7D06-8A16D8A0C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745EB62-4F22-0690-3D1E-095403E04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5DCFF8A5-530B-6839-BA66-44ECE114B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k-SK"/>
              <a:t>5. 12. 2023</a:t>
            </a:r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9341E166-F2FB-FF28-CDE4-07087D7B8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Regionálna citrátová antikoagulácia, © MUDr. Ľubomír Polaščín, 2023</a:t>
            </a:r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99BC34E5-440A-93CE-291B-E4C1690D1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A1882-1C6F-4141-A4A4-EBE08B96CD8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02543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D9B66E0-03FD-3BE6-D7D3-2047C3192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7AE5978-4676-B6AA-D23F-1DF817A552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415DA821-8FE4-8FA5-660A-7EA912E64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k-SK"/>
              <a:t>5. 12. 2023</a:t>
            </a:r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19069FAD-BBF4-7DC4-66E3-A185CB460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Regionálna citrátová antikoagulácia, © MUDr. Ľubomír Polaščín, 2023</a:t>
            </a:r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57C9BAF8-568B-3E02-78BB-3AD06D99E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A1882-1C6F-4141-A4A4-EBE08B96CD8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082717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859D4BF-7325-87C1-C4DD-B64880B39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EBF0085-E06E-0972-9020-B26B49C688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00E90E9C-AA0D-195F-79F2-D53F302C98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39A611CB-D5B5-F077-44AC-8F329D189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k-SK"/>
              <a:t>5. 12. 2023</a:t>
            </a:r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AEAC5DE6-05D4-4EDC-A3BB-564E37324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Regionálna citrátová antikoagulácia, © MUDr. Ľubomír Polaščín, 2023</a:t>
            </a:r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511E3305-F98E-7AC5-3C5F-C063AAFE3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A1882-1C6F-4141-A4A4-EBE08B96CD8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969778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805750-0896-9358-9ECF-BA4DAF28A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E1F78A8-72EF-CF2A-2CB2-FCCBE9C9F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4827A83F-A73E-EAE4-DFB7-D1D4826BA7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66B5A203-95BA-9EAD-927B-DF494E87C4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0579075F-AF86-5EE8-8B21-163B9673A2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8739CAFC-9562-2885-F90B-BB7799866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k-SK"/>
              <a:t>5. 12. 2023</a:t>
            </a:r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C01F37AC-816C-19E8-C8AA-5CE1043CD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Regionálna citrátová antikoagulácia, © MUDr. Ľubomír Polaščín, 2023</a:t>
            </a:r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698BDEE3-5BE7-3409-35B5-2B89A6A7D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A1882-1C6F-4141-A4A4-EBE08B96CD8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61147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E6EDE1-358C-98DD-1FE9-724A7EE3F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084C0683-2ABF-EF3B-8F9D-92C8C153E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k-SK"/>
              <a:t>5. 12. 2023</a:t>
            </a:r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3CF621D3-BE9D-1227-3CA8-EF48193A4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Regionálna citrátová antikoagulácia, © MUDr. Ľubomír Polaščín, 2023</a:t>
            </a:r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65A399E7-2597-79E7-B9FC-0CA55D6BA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A1882-1C6F-4141-A4A4-EBE08B96CD8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19912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E53B16DC-C90F-AF8C-4FAB-8EABF0A39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k-SK"/>
              <a:t>5. 12. 2023</a:t>
            </a:r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79EFA1CD-D72D-A476-3A74-F29721D58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Regionálna citrátová antikoagulácia, © MUDr. Ľubomír Polaščín, 2023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C36413E1-9392-79EB-614D-C1626C68D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A1882-1C6F-4141-A4A4-EBE08B96CD8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611691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50EC6F9-F654-7255-AD66-C0B70D10B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7E04716-CF72-A7BD-90BA-943F445B8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E33C1784-70EE-2786-75BC-E8D36ECA1F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7EBB8EDB-2E56-7004-98B3-8EF1D901B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k-SK"/>
              <a:t>5. 12. 2023</a:t>
            </a:r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993A288B-6EC9-648F-02C6-089984BD8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Regionálna citrátová antikoagulácia, © MUDr. Ľubomír Polaščín, 2023</a:t>
            </a:r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CB4F1A18-5C0D-5EA2-F0D5-CB88F5486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A1882-1C6F-4141-A4A4-EBE08B96CD8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133024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5BB9E51-C674-0AD8-7A7A-7EFDBA28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33819DA8-11AA-1BF1-C989-6C5AFFAAF7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CF92D80B-F77B-5460-14D1-F6534FD040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16F877AE-2690-3451-B804-0E7E4AC46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k-SK"/>
              <a:t>5. 12. 2023</a:t>
            </a:r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0813EEEF-A797-7F21-E6B1-423E13EF0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Regionálna citrátová antikoagulácia, © MUDr. Ľubomír Polaščín, 2023</a:t>
            </a:r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F37B6FCE-F064-BABC-996B-D6E3BDCA2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A1882-1C6F-4141-A4A4-EBE08B96CD8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29668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607E67A-9A33-34B8-8B81-D19307DA7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F01815DD-2B06-35C5-EFFA-08983EF9AD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1CA26D43-9AA6-B36B-5236-68629DEE7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k-SK"/>
              <a:t>5. 12. 2023</a:t>
            </a:r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7B856FB5-0966-5088-162F-BF81E5989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Regionálna citrátová antikoagulácia, © MUDr. Ľubomír Polaščín, 2023</a:t>
            </a:r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1EDF10AC-CD38-9C26-614D-44B8BE817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A1882-1C6F-4141-A4A4-EBE08B96CD8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706372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>
            <a:extLst>
              <a:ext uri="{FF2B5EF4-FFF2-40B4-BE49-F238E27FC236}">
                <a16:creationId xmlns:a16="http://schemas.microsoft.com/office/drawing/2014/main" id="{2AA24944-2327-71F8-3A47-3F9665CD9C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013994E1-32CF-D0D9-B48C-D1743FA85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5DB49A2-AB74-A5F7-E92A-1580C8A16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k-SK"/>
              <a:t>5. 12. 2023</a:t>
            </a:r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580C71B-0022-D792-1CDF-4AC5A7F35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Regionálna citrátová antikoagulácia, © MUDr. Ľubomír Polaščín, 2023</a:t>
            </a:r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BA420EBC-BAF0-B856-E38B-85866E611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A1882-1C6F-4141-A4A4-EBE08B96CD8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33060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37867E72-2FF2-9C6A-5CED-8964AA96A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929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C684BE5-0CED-2AF6-0433-1ABADC30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0979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43DB651A-8CF6-ABBE-BB8E-F234B218D2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405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i="1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sk-SK"/>
              <a:t>5. 12. 2023</a:t>
            </a:r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FCBAAF15-706D-7EF6-6B41-697BC177D8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40517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i="1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sk-SK"/>
              <a:t>Regionálna citrátová antikoagulácia, © MUDr. Ľubomír Polaščín, 2023</a:t>
            </a:r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77A9130A-DD38-7B99-3C04-868CB7EA39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405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i="1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EF3A1882-1C6F-4141-A4A4-EBE08B96CD84}" type="slidenum">
              <a:rPr lang="sk-SK" smtClean="0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78256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journals.lww.com/ccmjournal/pages/articleviewer.aspx?year=2009&amp;issue=06000&amp;article=00028&amp;type=Fulltext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A4FF40E-B243-DBCA-C620-2E3386A54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Regionálna citrátová antikoagulácia </a:t>
            </a:r>
            <a:br>
              <a:rPr lang="sk-SK" dirty="0"/>
            </a:br>
            <a:r>
              <a:rPr lang="sk-SK" dirty="0"/>
              <a:t>(napr. Ci-Ca CVVHD)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7FE7376-C346-91BF-3D7A-8DAA00FD5B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sk-SK" i="1" dirty="0"/>
              <a:t>Indikácie:</a:t>
            </a:r>
          </a:p>
          <a:p>
            <a:pPr marL="514350" indent="-514350">
              <a:buFont typeface="+mj-lt"/>
              <a:buAutoNum type="alphaLcPeriod"/>
            </a:pPr>
            <a:r>
              <a:rPr lang="sk-SK" dirty="0"/>
              <a:t>Stavy po chirurgických výkonoch a úrazoch.</a:t>
            </a:r>
          </a:p>
          <a:p>
            <a:pPr marL="514350" indent="-514350">
              <a:buFont typeface="+mj-lt"/>
              <a:buAutoNum type="alphaLcPeriod"/>
            </a:pPr>
            <a:r>
              <a:rPr lang="sk-SK" dirty="0"/>
              <a:t>Hemoragické diatézy.</a:t>
            </a:r>
          </a:p>
          <a:p>
            <a:pPr marL="514350" indent="-514350">
              <a:buFont typeface="+mj-lt"/>
              <a:buAutoNum type="alphaLcPeriod"/>
            </a:pPr>
            <a:r>
              <a:rPr lang="sk-SK" dirty="0"/>
              <a:t>Vredové lézie a erózie GIT.</a:t>
            </a:r>
          </a:p>
          <a:p>
            <a:pPr marL="514350" indent="-514350">
              <a:buFont typeface="+mj-lt"/>
              <a:buAutoNum type="alphaLcPeriod"/>
            </a:pPr>
            <a:r>
              <a:rPr lang="sk-SK" dirty="0"/>
              <a:t>Intrakraniálne lézie.</a:t>
            </a:r>
          </a:p>
          <a:p>
            <a:pPr marL="514350" indent="-514350">
              <a:buFont typeface="+mj-lt"/>
              <a:buAutoNum type="alphaLcPeriod"/>
            </a:pPr>
            <a:r>
              <a:rPr lang="sk-SK" dirty="0"/>
              <a:t>Uremická perikarditída.</a:t>
            </a:r>
          </a:p>
          <a:p>
            <a:pPr marL="514350" indent="-514350">
              <a:buFont typeface="+mj-lt"/>
              <a:buAutoNum type="alphaLcPeriod"/>
            </a:pPr>
            <a:r>
              <a:rPr lang="sk-SK" dirty="0"/>
              <a:t>Ťažká diabetická retinopatia.</a:t>
            </a:r>
          </a:p>
          <a:p>
            <a:pPr marL="514350" indent="-514350">
              <a:buFont typeface="+mj-lt"/>
              <a:buAutoNum type="alphaLcPeriod"/>
            </a:pPr>
            <a:r>
              <a:rPr lang="sk-SK" dirty="0"/>
              <a:t>Malígna hypertenzia.</a:t>
            </a:r>
          </a:p>
          <a:p>
            <a:pPr marL="514350" indent="-514350">
              <a:buFont typeface="+mj-lt"/>
              <a:buAutoNum type="alphaLcPeriod"/>
            </a:pPr>
            <a:r>
              <a:rPr lang="sk-SK" dirty="0"/>
              <a:t>Heparínom indikovaná trombocytopénia a tromocytóza.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C40FC280-E746-84F5-6188-476C911FB28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sk-SK" i="1" dirty="0"/>
              <a:t>Kontraindikácie:</a:t>
            </a:r>
          </a:p>
          <a:p>
            <a:pPr marL="514350" indent="-514350">
              <a:buFont typeface="+mj-lt"/>
              <a:buAutoNum type="alphaLcPeriod"/>
            </a:pPr>
            <a:r>
              <a:rPr lang="sk-SK" dirty="0"/>
              <a:t>Zlyhanie pečene.</a:t>
            </a:r>
          </a:p>
          <a:p>
            <a:pPr marL="514350" indent="-514350">
              <a:buFont typeface="+mj-lt"/>
              <a:buAutoNum type="alphaLcPeriod"/>
            </a:pPr>
            <a:r>
              <a:rPr lang="sk-SK" dirty="0"/>
              <a:t>Ťažká porucha funkcie pečene.</a:t>
            </a:r>
          </a:p>
          <a:p>
            <a:pPr marL="514350" indent="-514350">
              <a:buFont typeface="+mj-lt"/>
              <a:buAutoNum type="alphaLcPeriod"/>
            </a:pPr>
            <a:endParaRPr lang="sk-SK" dirty="0"/>
          </a:p>
          <a:p>
            <a:pPr>
              <a:buFont typeface="Wingdings" panose="05000000000000000000" pitchFamily="2" charset="2"/>
              <a:buChar char="ü"/>
            </a:pPr>
            <a:r>
              <a:rPr lang="sk-SK" dirty="0"/>
              <a:t>4% roztok citrátu sodného.</a:t>
            </a:r>
          </a:p>
          <a:p>
            <a:pPr marL="914400" lvl="1" indent="-457200">
              <a:buFont typeface="+mj-lt"/>
              <a:buAutoNum type="alphaLcParenR"/>
            </a:pPr>
            <a:r>
              <a:rPr lang="sk-SK" dirty="0"/>
              <a:t>antikoagulans</a:t>
            </a:r>
          </a:p>
          <a:p>
            <a:pPr marL="914400" lvl="1" indent="-457200">
              <a:buFont typeface="+mj-lt"/>
              <a:buAutoNum type="alphaLcParenR"/>
            </a:pPr>
            <a:r>
              <a:rPr lang="sk-SK" dirty="0"/>
              <a:t>nárazník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sk-SK" dirty="0"/>
              <a:t>Bezkalciový dialyzačný roztok.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sk-SK" dirty="0"/>
              <a:t>Monitorovanie aj hladín horčíka a fosfátov.</a:t>
            </a:r>
          </a:p>
        </p:txBody>
      </p:sp>
      <p:sp>
        <p:nvSpPr>
          <p:cNvPr id="9" name="Zástupný objekt pre pätu 8">
            <a:extLst>
              <a:ext uri="{FF2B5EF4-FFF2-40B4-BE49-F238E27FC236}">
                <a16:creationId xmlns:a16="http://schemas.microsoft.com/office/drawing/2014/main" id="{E2371CBD-D425-62BE-5130-BC9E0F3B2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Regionálna citrátová antikoagulácia, © MUDr. Ľubomír Polaščín, 2023</a:t>
            </a:r>
            <a:endParaRPr lang="sk-SK" dirty="0"/>
          </a:p>
        </p:txBody>
      </p:sp>
      <p:sp>
        <p:nvSpPr>
          <p:cNvPr id="10" name="Zástupný objekt pre číslo snímky 9">
            <a:extLst>
              <a:ext uri="{FF2B5EF4-FFF2-40B4-BE49-F238E27FC236}">
                <a16:creationId xmlns:a16="http://schemas.microsoft.com/office/drawing/2014/main" id="{09CF3E8D-582D-8B12-0908-C67CC6D9F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15DD4-BDE8-4D33-9788-70D3C86E930C}" type="slidenum">
              <a:rPr lang="sk-SK" smtClean="0"/>
              <a:pPr/>
              <a:t>1</a:t>
            </a:fld>
            <a:r>
              <a:rPr lang="sk-SK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2529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>
            <a:extLst>
              <a:ext uri="{FF2B5EF4-FFF2-40B4-BE49-F238E27FC236}">
                <a16:creationId xmlns:a16="http://schemas.microsoft.com/office/drawing/2014/main" id="{893DCFCE-68B4-E189-8697-009908A6B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>
                <a:latin typeface="Amasis MT Pro" panose="02040504050005020304" pitchFamily="18" charset="0"/>
              </a:rPr>
              <a:t>Počiatočné parametre regionálnej citrátovej antikoagulácie pri CVVH</a:t>
            </a:r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C368B299-9999-8803-FC39-5260D35C0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>
                <a:latin typeface="Amasis MT Pro" panose="02040504050005020304" pitchFamily="18" charset="0"/>
              </a:rPr>
              <a:t>Regionálna citrátová antikoagulácia, © MUDr. Ľubomír Polaščín, 2023</a:t>
            </a:r>
            <a:endParaRPr lang="sk-SK" dirty="0">
              <a:latin typeface="Amasis MT Pro" panose="02040504050005020304" pitchFamily="18" charset="0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D2EB5159-76D9-5065-3B20-E8AD85F3A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15DD4-BDE8-4D33-9788-70D3C86E930C}" type="slidenum">
              <a:rPr lang="sk-SK" smtClean="0">
                <a:latin typeface="Amasis MT Pro" panose="02040504050005020304" pitchFamily="18" charset="0"/>
              </a:rPr>
              <a:pPr/>
              <a:t>2</a:t>
            </a:fld>
            <a:r>
              <a:rPr lang="sk-SK">
                <a:latin typeface="Amasis MT Pro" panose="02040504050005020304" pitchFamily="18" charset="0"/>
              </a:rPr>
              <a:t>.</a:t>
            </a:r>
            <a:endParaRPr lang="sk-SK" dirty="0">
              <a:latin typeface="Amasis MT Pro" panose="02040504050005020304" pitchFamily="18" charset="0"/>
            </a:endParaRPr>
          </a:p>
        </p:txBody>
      </p:sp>
      <p:graphicFrame>
        <p:nvGraphicFramePr>
          <p:cNvPr id="5" name="Tabuľka 4">
            <a:extLst>
              <a:ext uri="{FF2B5EF4-FFF2-40B4-BE49-F238E27FC236}">
                <a16:creationId xmlns:a16="http://schemas.microsoft.com/office/drawing/2014/main" id="{DC31707B-14B3-F6C3-5369-DBB5529002EB}"/>
              </a:ext>
            </a:extLst>
          </p:cNvPr>
          <p:cNvGraphicFramePr>
            <a:graphicFrameLocks noGrp="1"/>
          </p:cNvGraphicFramePr>
          <p:nvPr/>
        </p:nvGraphicFramePr>
        <p:xfrm>
          <a:off x="696000" y="1939754"/>
          <a:ext cx="10800000" cy="3616790"/>
        </p:xfrm>
        <a:graphic>
          <a:graphicData uri="http://schemas.openxmlformats.org/drawingml/2006/table">
            <a:tbl>
              <a:tblPr/>
              <a:tblGrid>
                <a:gridCol w="4593578">
                  <a:extLst>
                    <a:ext uri="{9D8B030D-6E8A-4147-A177-3AD203B41FA5}">
                      <a16:colId xmlns:a16="http://schemas.microsoft.com/office/drawing/2014/main" val="2399304972"/>
                    </a:ext>
                  </a:extLst>
                </a:gridCol>
                <a:gridCol w="2111731">
                  <a:extLst>
                    <a:ext uri="{9D8B030D-6E8A-4147-A177-3AD203B41FA5}">
                      <a16:colId xmlns:a16="http://schemas.microsoft.com/office/drawing/2014/main" val="2639172724"/>
                    </a:ext>
                  </a:extLst>
                </a:gridCol>
                <a:gridCol w="2382361">
                  <a:extLst>
                    <a:ext uri="{9D8B030D-6E8A-4147-A177-3AD203B41FA5}">
                      <a16:colId xmlns:a16="http://schemas.microsoft.com/office/drawing/2014/main" val="2979250214"/>
                    </a:ext>
                  </a:extLst>
                </a:gridCol>
                <a:gridCol w="1712330">
                  <a:extLst>
                    <a:ext uri="{9D8B030D-6E8A-4147-A177-3AD203B41FA5}">
                      <a16:colId xmlns:a16="http://schemas.microsoft.com/office/drawing/2014/main" val="2829581755"/>
                    </a:ext>
                  </a:extLst>
                </a:gridCol>
              </a:tblGrid>
              <a:tr h="333114">
                <a:tc>
                  <a:txBody>
                    <a:bodyPr/>
                    <a:lstStyle/>
                    <a:p>
                      <a:pPr fontAlgn="t"/>
                      <a:r>
                        <a:rPr lang="sk-SK" sz="2400" b="1">
                          <a:effectLst/>
                          <a:latin typeface="Amasis MT Pro" panose="02040504050005020304" pitchFamily="18" charset="0"/>
                        </a:rPr>
                        <a:t>Hmotnosť pacienta </a:t>
                      </a:r>
                    </a:p>
                    <a:p>
                      <a:pPr fontAlgn="t"/>
                      <a:r>
                        <a:rPr lang="sk-SK" sz="1800" b="0">
                          <a:effectLst/>
                          <a:latin typeface="Amasis MT Pro" panose="02040504050005020304" pitchFamily="18" charset="0"/>
                        </a:rPr>
                        <a:t>[kg]</a:t>
                      </a:r>
                    </a:p>
                  </a:txBody>
                  <a:tcPr marL="83279" marR="83279" marT="41639" marB="416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k-SK" sz="2400" b="1">
                          <a:effectLst/>
                          <a:latin typeface="Amasis MT Pro" panose="02040504050005020304" pitchFamily="18" charset="0"/>
                        </a:rPr>
                        <a:t>&lt; 60 kg</a:t>
                      </a:r>
                    </a:p>
                  </a:txBody>
                  <a:tcPr marL="83279" marR="83279" marT="41639" marB="416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k-SK" sz="2400" b="1">
                          <a:effectLst/>
                          <a:latin typeface="Amasis MT Pro" panose="02040504050005020304" pitchFamily="18" charset="0"/>
                        </a:rPr>
                        <a:t>60 kg – 90 kg</a:t>
                      </a:r>
                    </a:p>
                  </a:txBody>
                  <a:tcPr marL="83279" marR="83279" marT="41639" marB="416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k-SK" sz="2400" b="1">
                          <a:effectLst/>
                          <a:latin typeface="Amasis MT Pro" panose="02040504050005020304" pitchFamily="18" charset="0"/>
                        </a:rPr>
                        <a:t>&gt; 90 kg</a:t>
                      </a:r>
                    </a:p>
                  </a:txBody>
                  <a:tcPr marL="83279" marR="83279" marT="41639" marB="416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008714"/>
                  </a:ext>
                </a:extLst>
              </a:tr>
              <a:tr h="333114">
                <a:tc>
                  <a:txBody>
                    <a:bodyPr/>
                    <a:lstStyle/>
                    <a:p>
                      <a:pPr fontAlgn="t"/>
                      <a:r>
                        <a:rPr lang="sk-SK" sz="2400" b="1">
                          <a:effectLst/>
                          <a:latin typeface="Amasis MT Pro" panose="02040504050005020304" pitchFamily="18" charset="0"/>
                        </a:rPr>
                        <a:t>Prietok krvi </a:t>
                      </a:r>
                    </a:p>
                    <a:p>
                      <a:pPr fontAlgn="t"/>
                      <a:r>
                        <a:rPr lang="sk-SK" sz="1800" b="0">
                          <a:effectLst/>
                          <a:latin typeface="Amasis MT Pro" panose="02040504050005020304" pitchFamily="18" charset="0"/>
                        </a:rPr>
                        <a:t>[mL/min]</a:t>
                      </a:r>
                    </a:p>
                  </a:txBody>
                  <a:tcPr marL="83279" marR="83279" marT="41639" marB="416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k-SK" sz="2400" b="1">
                          <a:solidFill>
                            <a:srgbClr val="FF0000"/>
                          </a:solidFill>
                          <a:effectLst/>
                          <a:latin typeface="Amasis MT Pro" panose="02040504050005020304" pitchFamily="18" charset="0"/>
                        </a:rPr>
                        <a:t>80</a:t>
                      </a:r>
                    </a:p>
                  </a:txBody>
                  <a:tcPr marL="83279" marR="83279" marT="41639" marB="416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k-SK" sz="2400" b="1">
                          <a:solidFill>
                            <a:srgbClr val="FF0000"/>
                          </a:solidFill>
                          <a:effectLst/>
                          <a:latin typeface="Amasis MT Pro" panose="02040504050005020304" pitchFamily="18" charset="0"/>
                        </a:rPr>
                        <a:t>100</a:t>
                      </a:r>
                    </a:p>
                  </a:txBody>
                  <a:tcPr marL="83279" marR="83279" marT="41639" marB="416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k-SK" sz="2400" b="1">
                          <a:solidFill>
                            <a:srgbClr val="FF0000"/>
                          </a:solidFill>
                          <a:effectLst/>
                          <a:latin typeface="Amasis MT Pro" panose="02040504050005020304" pitchFamily="18" charset="0"/>
                        </a:rPr>
                        <a:t>120</a:t>
                      </a:r>
                    </a:p>
                  </a:txBody>
                  <a:tcPr marL="83279" marR="83279" marT="41639" marB="416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435108"/>
                  </a:ext>
                </a:extLst>
              </a:tr>
              <a:tr h="333114">
                <a:tc>
                  <a:txBody>
                    <a:bodyPr/>
                    <a:lstStyle/>
                    <a:p>
                      <a:pPr fontAlgn="t"/>
                      <a:r>
                        <a:rPr lang="sk-SK" sz="2400" b="1">
                          <a:effectLst/>
                          <a:latin typeface="Amasis MT Pro" panose="02040504050005020304" pitchFamily="18" charset="0"/>
                        </a:rPr>
                        <a:t>Prietok dialyzátu </a:t>
                      </a:r>
                    </a:p>
                    <a:p>
                      <a:pPr fontAlgn="t"/>
                      <a:r>
                        <a:rPr lang="sk-SK" sz="1800" b="0">
                          <a:effectLst/>
                          <a:latin typeface="Amasis MT Pro" panose="02040504050005020304" pitchFamily="18" charset="0"/>
                        </a:rPr>
                        <a:t>[mL/hod]</a:t>
                      </a:r>
                    </a:p>
                  </a:txBody>
                  <a:tcPr marL="83279" marR="83279" marT="41639" marB="416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k-SK" sz="2400" b="1">
                          <a:solidFill>
                            <a:srgbClr val="00B0F0"/>
                          </a:solidFill>
                          <a:effectLst/>
                          <a:latin typeface="Amasis MT Pro" panose="02040504050005020304" pitchFamily="18" charset="0"/>
                        </a:rPr>
                        <a:t>1500</a:t>
                      </a:r>
                    </a:p>
                  </a:txBody>
                  <a:tcPr marL="83279" marR="83279" marT="41639" marB="416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k-SK" sz="2400" b="1">
                          <a:solidFill>
                            <a:srgbClr val="00B0F0"/>
                          </a:solidFill>
                          <a:effectLst/>
                          <a:latin typeface="Amasis MT Pro" panose="02040504050005020304" pitchFamily="18" charset="0"/>
                        </a:rPr>
                        <a:t>2000</a:t>
                      </a:r>
                    </a:p>
                  </a:txBody>
                  <a:tcPr marL="83279" marR="83279" marT="41639" marB="416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k-SK" sz="2400" b="1">
                          <a:solidFill>
                            <a:srgbClr val="00B0F0"/>
                          </a:solidFill>
                          <a:effectLst/>
                          <a:latin typeface="Amasis MT Pro" panose="02040504050005020304" pitchFamily="18" charset="0"/>
                        </a:rPr>
                        <a:t>2500</a:t>
                      </a:r>
                    </a:p>
                  </a:txBody>
                  <a:tcPr marL="83279" marR="83279" marT="41639" marB="416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9868863"/>
                  </a:ext>
                </a:extLst>
              </a:tr>
              <a:tr h="333114">
                <a:tc>
                  <a:txBody>
                    <a:bodyPr/>
                    <a:lstStyle/>
                    <a:p>
                      <a:pPr fontAlgn="t"/>
                      <a:r>
                        <a:rPr lang="sk-SK" sz="2400" b="1">
                          <a:effectLst/>
                          <a:latin typeface="Amasis MT Pro" panose="02040504050005020304" pitchFamily="18" charset="0"/>
                        </a:rPr>
                        <a:t>4% citrát sodný </a:t>
                      </a:r>
                    </a:p>
                    <a:p>
                      <a:pPr fontAlgn="t"/>
                      <a:r>
                        <a:rPr lang="sk-SK" sz="1800" b="0">
                          <a:effectLst/>
                          <a:latin typeface="Amasis MT Pro" panose="02040504050005020304" pitchFamily="18" charset="0"/>
                        </a:rPr>
                        <a:t>[mL/hod]</a:t>
                      </a:r>
                      <a:r>
                        <a:rPr lang="sk-SK" sz="1800" b="0" baseline="30000">
                          <a:effectLst/>
                          <a:latin typeface="Amasis MT Pro" panose="02040504050005020304" pitchFamily="18" charset="0"/>
                        </a:rPr>
                        <a:t>1</a:t>
                      </a:r>
                    </a:p>
                  </a:txBody>
                  <a:tcPr marL="83279" marR="83279" marT="41639" marB="416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k-SK" sz="2400" b="1">
                          <a:solidFill>
                            <a:srgbClr val="00B050"/>
                          </a:solidFill>
                          <a:effectLst/>
                          <a:latin typeface="Amasis MT Pro" panose="02040504050005020304" pitchFamily="18" charset="0"/>
                        </a:rPr>
                        <a:t>140</a:t>
                      </a:r>
                    </a:p>
                  </a:txBody>
                  <a:tcPr marL="83279" marR="83279" marT="41639" marB="416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k-SK" sz="2400" b="1">
                          <a:solidFill>
                            <a:srgbClr val="00B050"/>
                          </a:solidFill>
                          <a:effectLst/>
                          <a:latin typeface="Amasis MT Pro" panose="02040504050005020304" pitchFamily="18" charset="0"/>
                        </a:rPr>
                        <a:t>170</a:t>
                      </a:r>
                    </a:p>
                  </a:txBody>
                  <a:tcPr marL="83279" marR="83279" marT="41639" marB="416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k-SK" sz="2400" b="1">
                          <a:solidFill>
                            <a:srgbClr val="00B050"/>
                          </a:solidFill>
                          <a:effectLst/>
                          <a:latin typeface="Amasis MT Pro" panose="02040504050005020304" pitchFamily="18" charset="0"/>
                        </a:rPr>
                        <a:t>205</a:t>
                      </a:r>
                    </a:p>
                  </a:txBody>
                  <a:tcPr marL="83279" marR="83279" marT="41639" marB="416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165507"/>
                  </a:ext>
                </a:extLst>
              </a:tr>
              <a:tr h="333114">
                <a:tc>
                  <a:txBody>
                    <a:bodyPr/>
                    <a:lstStyle/>
                    <a:p>
                      <a:pPr fontAlgn="t"/>
                      <a:r>
                        <a:rPr lang="sk-SK" sz="2400" b="1">
                          <a:effectLst/>
                          <a:latin typeface="Amasis MT Pro" panose="02040504050005020304" pitchFamily="18" charset="0"/>
                        </a:rPr>
                        <a:t>Vápnik </a:t>
                      </a:r>
                    </a:p>
                    <a:p>
                      <a:pPr fontAlgn="t"/>
                      <a:r>
                        <a:rPr lang="sk-SK" sz="1800" b="0">
                          <a:effectLst/>
                          <a:latin typeface="Amasis MT Pro" panose="02040504050005020304" pitchFamily="18" charset="0"/>
                        </a:rPr>
                        <a:t>[mL/hod]</a:t>
                      </a:r>
                      <a:r>
                        <a:rPr lang="sk-SK" sz="1800" b="0" baseline="30000">
                          <a:effectLst/>
                          <a:latin typeface="Amasis MT Pro" panose="02040504050005020304" pitchFamily="18" charset="0"/>
                        </a:rPr>
                        <a:t>2</a:t>
                      </a:r>
                      <a:endParaRPr lang="sk-SK" sz="1800" b="0">
                        <a:effectLst/>
                        <a:latin typeface="Amasis MT Pro" panose="02040504050005020304" pitchFamily="18" charset="0"/>
                      </a:endParaRPr>
                    </a:p>
                  </a:txBody>
                  <a:tcPr marL="83279" marR="83279" marT="41639" marB="416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k-SK" sz="2400" b="1">
                          <a:solidFill>
                            <a:srgbClr val="FFC000"/>
                          </a:solidFill>
                          <a:effectLst/>
                          <a:latin typeface="Amasis MT Pro" panose="02040504050005020304" pitchFamily="18" charset="0"/>
                        </a:rPr>
                        <a:t>38</a:t>
                      </a:r>
                    </a:p>
                  </a:txBody>
                  <a:tcPr marL="83279" marR="83279" marT="41639" marB="416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k-SK" sz="2400" b="1">
                          <a:solidFill>
                            <a:srgbClr val="FFC000"/>
                          </a:solidFill>
                          <a:effectLst/>
                          <a:latin typeface="Amasis MT Pro" panose="02040504050005020304" pitchFamily="18" charset="0"/>
                        </a:rPr>
                        <a:t>50</a:t>
                      </a:r>
                    </a:p>
                  </a:txBody>
                  <a:tcPr marL="83279" marR="83279" marT="41639" marB="416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k-SK" sz="2400" b="1">
                          <a:solidFill>
                            <a:srgbClr val="FFC000"/>
                          </a:solidFill>
                          <a:effectLst/>
                          <a:latin typeface="Amasis MT Pro" panose="02040504050005020304" pitchFamily="18" charset="0"/>
                        </a:rPr>
                        <a:t>65</a:t>
                      </a:r>
                    </a:p>
                  </a:txBody>
                  <a:tcPr marL="83279" marR="83279" marT="41639" marB="416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362563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ACEF6BEC-0875-575E-956B-59A0AB8A5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000" y="5625365"/>
            <a:ext cx="10800000" cy="6463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000" b="0" i="0" u="none" strike="noStrike" cap="none" normalizeH="0" baseline="30000">
                <a:ln>
                  <a:noFill/>
                </a:ln>
                <a:solidFill>
                  <a:srgbClr val="232323"/>
                </a:solidFill>
                <a:effectLst/>
                <a:latin typeface="Amasis MT Pro" panose="02040504050005020304" pitchFamily="18" charset="0"/>
                <a:cs typeface="Noto Sans" panose="020B0502040504020204" pitchFamily="34"/>
              </a:rPr>
              <a:t>1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232323"/>
                </a:solidFill>
                <a:effectLst/>
                <a:latin typeface="Amasis MT Pro" panose="02040504050005020304" pitchFamily="18" charset="0"/>
                <a:cs typeface="Noto Sans" panose="020B0502040504020204" pitchFamily="34"/>
              </a:rPr>
              <a:t> Koncentrácia citrátu sodného je 136 mmol/L.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000" b="0" i="0" u="none" strike="noStrike" cap="none" normalizeH="0" baseline="30000">
                <a:ln>
                  <a:noFill/>
                </a:ln>
                <a:solidFill>
                  <a:srgbClr val="232323"/>
                </a:solidFill>
                <a:effectLst/>
                <a:latin typeface="Amasis MT Pro" panose="02040504050005020304" pitchFamily="18" charset="0"/>
                <a:cs typeface="Noto Sans" panose="020B0502040504020204" pitchFamily="34"/>
              </a:rPr>
              <a:t>2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232323"/>
                </a:solidFill>
                <a:effectLst/>
                <a:latin typeface="Amasis MT Pro" panose="02040504050005020304" pitchFamily="18" charset="0"/>
                <a:cs typeface="Noto Sans" panose="020B0502040504020204" pitchFamily="34"/>
              </a:rPr>
              <a:t> Koncentrácia vápnika je 91 mmol/L.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k-SK" altLang="sk-SK" sz="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masis MT Pro" panose="020405040500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900" b="0" i="1" u="none" strike="noStrike" cap="none" normalizeH="0" baseline="0">
                <a:ln>
                  <a:noFill/>
                </a:ln>
                <a:solidFill>
                  <a:srgbClr val="757575"/>
                </a:solidFill>
                <a:effectLst/>
                <a:latin typeface="Amasis MT Pro" panose="02040504050005020304" pitchFamily="18" charset="0"/>
                <a:cs typeface="Noto Sans" panose="020B0502040504020204" pitchFamily="34"/>
              </a:rPr>
              <a:t>From: Morgera S, Schneider M, Slowinski T, et al. A safe citrate anticoagulation protocol with variable treatment efficacy and excellent control of the acid-base status. Crit Care Med 2009; 37:2018. DOI: </a:t>
            </a:r>
            <a:r>
              <a:rPr kumimoji="0" lang="sk-SK" altLang="sk-SK" sz="900" b="0" i="1" u="none" strike="noStrike" cap="none" normalizeH="0" baseline="0">
                <a:ln>
                  <a:noFill/>
                </a:ln>
                <a:solidFill>
                  <a:srgbClr val="005B92"/>
                </a:solidFill>
                <a:effectLst/>
                <a:latin typeface="Amasis MT Pro" panose="02040504050005020304" pitchFamily="18" charset="0"/>
                <a:cs typeface="Noto Sans" panose="020B0502040504020204" pitchFamily="34"/>
                <a:hlinkClick r:id="rId2"/>
              </a:rPr>
              <a:t>10.1097/CCM.0b013e3181a00a92</a:t>
            </a:r>
            <a:r>
              <a:rPr kumimoji="0" lang="sk-SK" altLang="sk-SK" sz="900" b="0" i="1" u="none" strike="noStrike" cap="none" normalizeH="0" baseline="0">
                <a:ln>
                  <a:noFill/>
                </a:ln>
                <a:solidFill>
                  <a:srgbClr val="757575"/>
                </a:solidFill>
                <a:effectLst/>
                <a:latin typeface="Amasis MT Pro" panose="02040504050005020304" pitchFamily="18" charset="0"/>
                <a:cs typeface="Noto Sans" panose="020B0502040504020204" pitchFamily="34"/>
              </a:rPr>
              <a:t>. Copyright © 2018 the Society of Critical Care Medicine.</a:t>
            </a:r>
            <a:endParaRPr kumimoji="0" lang="sk-SK" altLang="sk-SK" sz="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575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19BEB6D4-041B-EF39-C64E-118FF6CA5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Regionálna citrátová antikoagulácia, © MUDr. Ľubomír Polaščín, 2023</a:t>
            </a:r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0F6C033B-D3D9-BDBA-142D-B5826C790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15DD4-BDE8-4D33-9788-70D3C86E930C}" type="slidenum">
              <a:rPr lang="sk-SK" smtClean="0"/>
              <a:pPr/>
              <a:t>3</a:t>
            </a:fld>
            <a:r>
              <a:rPr lang="sk-SK"/>
              <a:t>.</a:t>
            </a:r>
            <a:endParaRPr lang="sk-SK" dirty="0"/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641FC1C0-B056-6E10-9CA5-AD13535CE6CC}"/>
              </a:ext>
            </a:extLst>
          </p:cNvPr>
          <p:cNvSpPr txBox="1"/>
          <p:nvPr/>
        </p:nvSpPr>
        <p:spPr>
          <a:xfrm>
            <a:off x="696000" y="280919"/>
            <a:ext cx="10800000" cy="5262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sk-SK" sz="2800" b="1" i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masis MT Pro" panose="02040504050005020304" pitchFamily="18" charset="0"/>
              </a:rPr>
              <a:t>Glukonan vápenatý</a:t>
            </a:r>
          </a:p>
          <a:p>
            <a:endParaRPr lang="sk-SK" sz="2400" b="0" i="0">
              <a:solidFill>
                <a:srgbClr val="222222"/>
              </a:solidFill>
              <a:effectLst/>
              <a:latin typeface="Amasis MT Pro" panose="02040504050005020304" pitchFamily="18" charset="0"/>
            </a:endParaRPr>
          </a:p>
          <a:p>
            <a:r>
              <a:rPr lang="sk-SK" sz="2400" b="0" i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Calcium gluconicum 10%</a:t>
            </a:r>
          </a:p>
          <a:p>
            <a:endParaRPr lang="sk-SK" sz="2400">
              <a:solidFill>
                <a:srgbClr val="222222"/>
              </a:solidFill>
              <a:latin typeface="Amasis MT Pro" panose="02040504050005020304" pitchFamily="18" charset="0"/>
            </a:endParaRPr>
          </a:p>
          <a:p>
            <a:r>
              <a:rPr lang="sk-SK" sz="2400" b="0" i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B.BRAUN CALCIUM GLUCONICUM 10 % sol inj (amp.LDPE) 20x10 ml</a:t>
            </a:r>
          </a:p>
          <a:p>
            <a:endParaRPr lang="sk-SK" sz="2400" b="0" i="0">
              <a:solidFill>
                <a:srgbClr val="222222"/>
              </a:solidFill>
              <a:effectLst/>
              <a:latin typeface="Amasis MT Pro" panose="02040504050005020304" pitchFamily="18" charset="0"/>
            </a:endParaRPr>
          </a:p>
          <a:p>
            <a:r>
              <a:rPr lang="sk-SK" sz="2400" b="0" i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1 mL obsahuje 94 mg kalciumglukonátu ako liečivo, čo zodpovedá 0,21 mmol vápnika</a:t>
            </a:r>
          </a:p>
          <a:p>
            <a:r>
              <a:rPr lang="sk-SK" sz="2000" b="0" i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{6.1 Zoznam pomocných látok: tetrahydrát vápenatej soli D-sacharózy, voda na injekciu}</a:t>
            </a:r>
          </a:p>
          <a:p>
            <a:r>
              <a:rPr lang="sk-SK" sz="2400" b="0" i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Celkový obsah vápnika: 0,23 mmol/mL (2,25 mmol/10 mL) – viď SmPC</a:t>
            </a:r>
            <a:endParaRPr lang="sk-SK" sz="2400">
              <a:solidFill>
                <a:srgbClr val="222222"/>
              </a:solidFill>
              <a:latin typeface="Amasis MT Pro" panose="02040504050005020304" pitchFamily="18" charset="0"/>
            </a:endParaRPr>
          </a:p>
          <a:p>
            <a:r>
              <a:rPr lang="sk-SK" sz="2400">
                <a:solidFill>
                  <a:srgbClr val="222222"/>
                </a:solidFill>
                <a:latin typeface="Amasis MT Pro" panose="02040504050005020304" pitchFamily="18" charset="0"/>
              </a:rPr>
              <a:t>Teoretická osmolarita: 660 mosm/L</a:t>
            </a:r>
          </a:p>
          <a:p>
            <a:endParaRPr lang="sk-SK" sz="2400">
              <a:solidFill>
                <a:srgbClr val="222222"/>
              </a:solidFill>
              <a:latin typeface="Amasis MT Pro" panose="02040504050005020304" pitchFamily="18" charset="0"/>
            </a:endParaRPr>
          </a:p>
          <a:p>
            <a:r>
              <a:rPr lang="sk-SK" sz="2400">
                <a:solidFill>
                  <a:srgbClr val="222222"/>
                </a:solidFill>
                <a:latin typeface="Amasis MT Pro" panose="02040504050005020304" pitchFamily="18" charset="0"/>
              </a:rPr>
              <a:t>Celková koncentrácia vápnika </a:t>
            </a:r>
            <a:r>
              <a:rPr lang="sk-SK" sz="2400" b="1" u="sng">
                <a:solidFill>
                  <a:srgbClr val="222222"/>
                </a:solidFill>
                <a:latin typeface="Amasis MT Pro" panose="02040504050005020304" pitchFamily="18" charset="0"/>
              </a:rPr>
              <a:t>225 mmol/L</a:t>
            </a:r>
          </a:p>
          <a:p>
            <a:r>
              <a:rPr lang="sk-SK" sz="2400">
                <a:solidFill>
                  <a:srgbClr val="222222"/>
                </a:solidFill>
                <a:latin typeface="Amasis MT Pro" panose="02040504050005020304" pitchFamily="18" charset="0"/>
              </a:rPr>
              <a:t>91/225 = </a:t>
            </a:r>
            <a:r>
              <a:rPr lang="sk-SK" sz="2400" b="1">
                <a:solidFill>
                  <a:srgbClr val="222222"/>
                </a:solidFill>
                <a:latin typeface="Amasis MT Pro" panose="02040504050005020304" pitchFamily="18" charset="0"/>
              </a:rPr>
              <a:t>0,4</a:t>
            </a:r>
            <a:r>
              <a:rPr lang="sk-SK" sz="2400">
                <a:solidFill>
                  <a:srgbClr val="222222"/>
                </a:solidFill>
                <a:latin typeface="Amasis MT Pro" panose="02040504050005020304" pitchFamily="18" charset="0"/>
              </a:rPr>
              <a:t> (0,404444)</a:t>
            </a:r>
            <a:endParaRPr lang="sk-SK" sz="2400">
              <a:latin typeface="Amasis MT Pro" panose="02040504050005020304" pitchFamily="18" charset="0"/>
            </a:endParaRPr>
          </a:p>
        </p:txBody>
      </p:sp>
      <p:pic>
        <p:nvPicPr>
          <p:cNvPr id="8" name="Grafický objekt 7">
            <a:extLst>
              <a:ext uri="{FF2B5EF4-FFF2-40B4-BE49-F238E27FC236}">
                <a16:creationId xmlns:a16="http://schemas.microsoft.com/office/drawing/2014/main" id="{624DF827-85A8-ADA5-BF53-F24CFC4816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48175" y="321858"/>
            <a:ext cx="1647825" cy="1647825"/>
          </a:xfrm>
          <a:prstGeom prst="rect">
            <a:avLst/>
          </a:prstGeom>
        </p:spPr>
      </p:pic>
      <p:pic>
        <p:nvPicPr>
          <p:cNvPr id="10" name="Obrázok 9" descr="Obrázok, na ktorom je snímka obrazovky, dizajn">
            <a:extLst>
              <a:ext uri="{FF2B5EF4-FFF2-40B4-BE49-F238E27FC236}">
                <a16:creationId xmlns:a16="http://schemas.microsoft.com/office/drawing/2014/main" id="{7429D6E1-4983-CC2C-B1E2-D8DDC32383B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35" t="13752" r="4065" b="46068"/>
          <a:stretch/>
        </p:blipFill>
        <p:spPr>
          <a:xfrm>
            <a:off x="7787090" y="526603"/>
            <a:ext cx="2017820" cy="1238333"/>
          </a:xfrm>
          <a:prstGeom prst="rect">
            <a:avLst/>
          </a:prstGeom>
        </p:spPr>
      </p:pic>
      <p:graphicFrame>
        <p:nvGraphicFramePr>
          <p:cNvPr id="12" name="Tabuľka 11">
            <a:extLst>
              <a:ext uri="{FF2B5EF4-FFF2-40B4-BE49-F238E27FC236}">
                <a16:creationId xmlns:a16="http://schemas.microsoft.com/office/drawing/2014/main" id="{5F56DA68-F15C-6B7A-F670-ACE80E7EBEAB}"/>
              </a:ext>
            </a:extLst>
          </p:cNvPr>
          <p:cNvGraphicFramePr>
            <a:graphicFrameLocks noGrp="1"/>
          </p:cNvGraphicFramePr>
          <p:nvPr/>
        </p:nvGraphicFramePr>
        <p:xfrm>
          <a:off x="696000" y="5656707"/>
          <a:ext cx="10800000" cy="723358"/>
        </p:xfrm>
        <a:graphic>
          <a:graphicData uri="http://schemas.openxmlformats.org/drawingml/2006/table">
            <a:tbl>
              <a:tblPr/>
              <a:tblGrid>
                <a:gridCol w="4593578">
                  <a:extLst>
                    <a:ext uri="{9D8B030D-6E8A-4147-A177-3AD203B41FA5}">
                      <a16:colId xmlns:a16="http://schemas.microsoft.com/office/drawing/2014/main" val="3684981967"/>
                    </a:ext>
                  </a:extLst>
                </a:gridCol>
                <a:gridCol w="2111731">
                  <a:extLst>
                    <a:ext uri="{9D8B030D-6E8A-4147-A177-3AD203B41FA5}">
                      <a16:colId xmlns:a16="http://schemas.microsoft.com/office/drawing/2014/main" val="1626835763"/>
                    </a:ext>
                  </a:extLst>
                </a:gridCol>
                <a:gridCol w="2382361">
                  <a:extLst>
                    <a:ext uri="{9D8B030D-6E8A-4147-A177-3AD203B41FA5}">
                      <a16:colId xmlns:a16="http://schemas.microsoft.com/office/drawing/2014/main" val="825841112"/>
                    </a:ext>
                  </a:extLst>
                </a:gridCol>
                <a:gridCol w="1712330">
                  <a:extLst>
                    <a:ext uri="{9D8B030D-6E8A-4147-A177-3AD203B41FA5}">
                      <a16:colId xmlns:a16="http://schemas.microsoft.com/office/drawing/2014/main" val="19777433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sk-SK" sz="2400" b="1">
                          <a:effectLst/>
                          <a:latin typeface="Amasis MT Pro" panose="02040504050005020304" pitchFamily="18" charset="0"/>
                        </a:rPr>
                        <a:t>Vápnik </a:t>
                      </a:r>
                    </a:p>
                    <a:p>
                      <a:pPr fontAlgn="t"/>
                      <a:r>
                        <a:rPr lang="sk-SK" sz="1800" b="0">
                          <a:effectLst/>
                          <a:latin typeface="Amasis MT Pro" panose="02040504050005020304" pitchFamily="18" charset="0"/>
                        </a:rPr>
                        <a:t>[mL/hod]</a:t>
                      </a:r>
                    </a:p>
                  </a:txBody>
                  <a:tcPr marL="83279" marR="83279" marT="41639" marB="416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k-SK" sz="2400" b="1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masis MT Pro" panose="02040504050005020304" pitchFamily="18" charset="0"/>
                        </a:rPr>
                        <a:t>15</a:t>
                      </a:r>
                    </a:p>
                  </a:txBody>
                  <a:tcPr marL="83279" marR="83279" marT="41639" marB="416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k-SK" sz="2400" b="1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masis MT Pro" panose="02040504050005020304" pitchFamily="18" charset="0"/>
                        </a:rPr>
                        <a:t>20</a:t>
                      </a:r>
                    </a:p>
                  </a:txBody>
                  <a:tcPr marL="83279" marR="83279" marT="41639" marB="416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k-SK" sz="2400" b="1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masis MT Pro" panose="02040504050005020304" pitchFamily="18" charset="0"/>
                        </a:rPr>
                        <a:t>26</a:t>
                      </a:r>
                    </a:p>
                  </a:txBody>
                  <a:tcPr marL="83279" marR="83279" marT="41639" marB="416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392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6475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17F64049-7464-D6C9-C04D-7E9B43E1B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Regionálna citrátová antikoagulácia, © MUDr. Ľubomír Polaščín, 2023</a:t>
            </a:r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89DBF43A-6EF6-AE05-BA58-7ED58A515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15DD4-BDE8-4D33-9788-70D3C86E930C}" type="slidenum">
              <a:rPr lang="sk-SK" smtClean="0"/>
              <a:pPr/>
              <a:t>4</a:t>
            </a:fld>
            <a:r>
              <a:rPr lang="sk-SK"/>
              <a:t>.</a:t>
            </a:r>
            <a:endParaRPr lang="sk-SK" dirty="0"/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C6F2CA60-C75D-E738-EB71-D26EA6AF7766}"/>
              </a:ext>
            </a:extLst>
          </p:cNvPr>
          <p:cNvSpPr txBox="1"/>
          <p:nvPr/>
        </p:nvSpPr>
        <p:spPr>
          <a:xfrm>
            <a:off x="696000" y="268408"/>
            <a:ext cx="10800000" cy="52322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sk-SK" sz="2800" b="1" i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masis MT Pro" panose="02040504050005020304" pitchFamily="18" charset="0"/>
              </a:rPr>
              <a:t>Chlorid vápenatý (CaCl</a:t>
            </a:r>
            <a:r>
              <a:rPr lang="sk-SK" sz="2800" b="1" i="0" baseline="-25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masis MT Pro" panose="02040504050005020304" pitchFamily="18" charset="0"/>
              </a:rPr>
              <a:t>2</a:t>
            </a:r>
            <a:r>
              <a:rPr lang="sk-SK" sz="2800" b="1" i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masis MT Pro" panose="02040504050005020304" pitchFamily="18" charset="0"/>
              </a:rPr>
              <a:t>)</a:t>
            </a:r>
          </a:p>
          <a:p>
            <a:pPr algn="l"/>
            <a:endParaRPr lang="sk-SK" sz="2400">
              <a:solidFill>
                <a:srgbClr val="000000"/>
              </a:solidFill>
              <a:latin typeface="Amasis MT Pro" panose="02040504050005020304" pitchFamily="18" charset="0"/>
            </a:endParaRPr>
          </a:p>
          <a:p>
            <a:pPr algn="l"/>
            <a:r>
              <a:rPr lang="sk-SK" sz="2400" i="0">
                <a:solidFill>
                  <a:srgbClr val="000000"/>
                </a:solidFill>
                <a:effectLst/>
                <a:latin typeface="Amasis MT Pro" panose="02040504050005020304" pitchFamily="18" charset="0"/>
              </a:rPr>
              <a:t>Calcium chloratum 67,1 mg/mL injekčný roztok</a:t>
            </a:r>
          </a:p>
          <a:p>
            <a:pPr algn="l"/>
            <a:endParaRPr lang="sk-SK" sz="2400">
              <a:solidFill>
                <a:srgbClr val="000000"/>
              </a:solidFill>
              <a:latin typeface="Amasis MT Pro" panose="02040504050005020304" pitchFamily="18" charset="0"/>
            </a:endParaRPr>
          </a:p>
          <a:p>
            <a:pPr algn="l"/>
            <a:r>
              <a:rPr lang="sk-SK" sz="2400" i="0">
                <a:solidFill>
                  <a:srgbClr val="000000"/>
                </a:solidFill>
                <a:effectLst/>
                <a:latin typeface="Amasis MT Pro" panose="02040504050005020304" pitchFamily="18" charset="0"/>
              </a:rPr>
              <a:t>CALCIUM CHLORATUM BBP (Biotika) sol inj 671 mg (amp.skl.) </a:t>
            </a:r>
          </a:p>
          <a:p>
            <a:pPr algn="l"/>
            <a:r>
              <a:rPr lang="sk-SK" sz="2400" i="0">
                <a:solidFill>
                  <a:srgbClr val="000000"/>
                </a:solidFill>
                <a:effectLst/>
                <a:latin typeface="Amasis MT Pro" panose="02040504050005020304" pitchFamily="18" charset="0"/>
              </a:rPr>
              <a:t>5x10 mL (50 mL)</a:t>
            </a:r>
          </a:p>
          <a:p>
            <a:pPr algn="l"/>
            <a:endParaRPr lang="sk-SK" sz="2400">
              <a:solidFill>
                <a:srgbClr val="000000"/>
              </a:solidFill>
              <a:latin typeface="Amasis MT Pro" panose="02040504050005020304" pitchFamily="18" charset="0"/>
            </a:endParaRPr>
          </a:p>
          <a:p>
            <a:pPr algn="l"/>
            <a:r>
              <a:rPr lang="sk-SK" sz="2400" i="0">
                <a:solidFill>
                  <a:srgbClr val="000000"/>
                </a:solidFill>
                <a:effectLst/>
                <a:latin typeface="Amasis MT Pro" panose="02040504050005020304" pitchFamily="18" charset="0"/>
              </a:rPr>
              <a:t>10 mL injekčného roztoku obsahuje 671 mg chloridu vápenatého, dihydrátu.</a:t>
            </a:r>
          </a:p>
          <a:p>
            <a:pPr algn="l"/>
            <a:r>
              <a:rPr lang="sk-SK" sz="2400" i="0">
                <a:solidFill>
                  <a:srgbClr val="000000"/>
                </a:solidFill>
                <a:effectLst/>
                <a:latin typeface="Amasis MT Pro" panose="02040504050005020304" pitchFamily="18" charset="0"/>
              </a:rPr>
              <a:t>Obsah vápnika: 10 mL injekčného roztoku obsahuje 183 mg vápnika, to zodpovedá 4,56 mmol. </a:t>
            </a:r>
          </a:p>
          <a:p>
            <a:pPr algn="l"/>
            <a:r>
              <a:rPr lang="sk-SK" i="0">
                <a:solidFill>
                  <a:srgbClr val="000000"/>
                </a:solidFill>
                <a:effectLst/>
                <a:latin typeface="Amasis MT Pro" panose="02040504050005020304" pitchFamily="18" charset="0"/>
              </a:rPr>
              <a:t>Obsah chloridov: 10 mL injekčného roztoku obsahuje 324 mg chloridov, to zodpovedá 9,12 mmol.</a:t>
            </a:r>
          </a:p>
          <a:p>
            <a:pPr algn="l"/>
            <a:endParaRPr lang="sk-SK" sz="2400">
              <a:solidFill>
                <a:srgbClr val="000000"/>
              </a:solidFill>
              <a:latin typeface="Amasis MT Pro" panose="02040504050005020304" pitchFamily="18" charset="0"/>
            </a:endParaRPr>
          </a:p>
          <a:p>
            <a:pPr algn="l"/>
            <a:r>
              <a:rPr lang="sk-SK" sz="2400" i="0">
                <a:solidFill>
                  <a:srgbClr val="000000"/>
                </a:solidFill>
                <a:effectLst/>
                <a:latin typeface="Amasis MT Pro" panose="02040504050005020304" pitchFamily="18" charset="0"/>
              </a:rPr>
              <a:t>Koncentrácia vápnika </a:t>
            </a:r>
            <a:r>
              <a:rPr lang="sk-SK" sz="2400" b="1" i="0" u="sng">
                <a:solidFill>
                  <a:srgbClr val="000000"/>
                </a:solidFill>
                <a:effectLst/>
                <a:latin typeface="Amasis MT Pro" panose="02040504050005020304" pitchFamily="18" charset="0"/>
              </a:rPr>
              <a:t>456 mmol/L</a:t>
            </a:r>
            <a:r>
              <a:rPr lang="sk-SK" sz="2400" i="0">
                <a:solidFill>
                  <a:srgbClr val="000000"/>
                </a:solidFill>
                <a:effectLst/>
                <a:latin typeface="Amasis MT Pro" panose="02040504050005020304" pitchFamily="18" charset="0"/>
              </a:rPr>
              <a:t>.</a:t>
            </a:r>
          </a:p>
          <a:p>
            <a:pPr algn="l"/>
            <a:r>
              <a:rPr lang="sk-SK" sz="2400">
                <a:solidFill>
                  <a:srgbClr val="000000"/>
                </a:solidFill>
                <a:latin typeface="Amasis MT Pro" panose="02040504050005020304" pitchFamily="18" charset="0"/>
              </a:rPr>
              <a:t>91/456 = </a:t>
            </a:r>
            <a:r>
              <a:rPr lang="sk-SK" sz="2400" b="1">
                <a:solidFill>
                  <a:srgbClr val="000000"/>
                </a:solidFill>
                <a:latin typeface="Amasis MT Pro" panose="02040504050005020304" pitchFamily="18" charset="0"/>
              </a:rPr>
              <a:t>0,2</a:t>
            </a:r>
            <a:r>
              <a:rPr lang="sk-SK" sz="2400">
                <a:solidFill>
                  <a:srgbClr val="000000"/>
                </a:solidFill>
                <a:latin typeface="Amasis MT Pro" panose="02040504050005020304" pitchFamily="18" charset="0"/>
              </a:rPr>
              <a:t> (0,19956)</a:t>
            </a:r>
            <a:endParaRPr lang="sk-SK" sz="2400" i="0">
              <a:solidFill>
                <a:srgbClr val="000000"/>
              </a:solidFill>
              <a:effectLst/>
              <a:latin typeface="Amasis MT Pro" panose="02040504050005020304" pitchFamily="18" charset="0"/>
            </a:endParaRPr>
          </a:p>
        </p:txBody>
      </p:sp>
      <p:graphicFrame>
        <p:nvGraphicFramePr>
          <p:cNvPr id="9" name="Tabuľka 8">
            <a:extLst>
              <a:ext uri="{FF2B5EF4-FFF2-40B4-BE49-F238E27FC236}">
                <a16:creationId xmlns:a16="http://schemas.microsoft.com/office/drawing/2014/main" id="{B2386EFD-DEC2-9B56-8BCC-7A5EA190422B}"/>
              </a:ext>
            </a:extLst>
          </p:cNvPr>
          <p:cNvGraphicFramePr>
            <a:graphicFrameLocks noGrp="1"/>
          </p:cNvGraphicFramePr>
          <p:nvPr/>
        </p:nvGraphicFramePr>
        <p:xfrm>
          <a:off x="696000" y="5656707"/>
          <a:ext cx="10800000" cy="723358"/>
        </p:xfrm>
        <a:graphic>
          <a:graphicData uri="http://schemas.openxmlformats.org/drawingml/2006/table">
            <a:tbl>
              <a:tblPr/>
              <a:tblGrid>
                <a:gridCol w="4593578">
                  <a:extLst>
                    <a:ext uri="{9D8B030D-6E8A-4147-A177-3AD203B41FA5}">
                      <a16:colId xmlns:a16="http://schemas.microsoft.com/office/drawing/2014/main" val="3684981967"/>
                    </a:ext>
                  </a:extLst>
                </a:gridCol>
                <a:gridCol w="2111731">
                  <a:extLst>
                    <a:ext uri="{9D8B030D-6E8A-4147-A177-3AD203B41FA5}">
                      <a16:colId xmlns:a16="http://schemas.microsoft.com/office/drawing/2014/main" val="1626835763"/>
                    </a:ext>
                  </a:extLst>
                </a:gridCol>
                <a:gridCol w="2382361">
                  <a:extLst>
                    <a:ext uri="{9D8B030D-6E8A-4147-A177-3AD203B41FA5}">
                      <a16:colId xmlns:a16="http://schemas.microsoft.com/office/drawing/2014/main" val="825841112"/>
                    </a:ext>
                  </a:extLst>
                </a:gridCol>
                <a:gridCol w="1712330">
                  <a:extLst>
                    <a:ext uri="{9D8B030D-6E8A-4147-A177-3AD203B41FA5}">
                      <a16:colId xmlns:a16="http://schemas.microsoft.com/office/drawing/2014/main" val="19777433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sk-SK" sz="2400" b="1">
                          <a:effectLst/>
                          <a:latin typeface="Amasis MT Pro" panose="02040504050005020304" pitchFamily="18" charset="0"/>
                        </a:rPr>
                        <a:t>Vápnik </a:t>
                      </a:r>
                    </a:p>
                    <a:p>
                      <a:pPr fontAlgn="t"/>
                      <a:r>
                        <a:rPr lang="sk-SK" sz="1800" b="0">
                          <a:effectLst/>
                          <a:latin typeface="Amasis MT Pro" panose="02040504050005020304" pitchFamily="18" charset="0"/>
                        </a:rPr>
                        <a:t>[mL/hod]</a:t>
                      </a:r>
                    </a:p>
                  </a:txBody>
                  <a:tcPr marL="83279" marR="83279" marT="41639" marB="416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k-SK" sz="2400" b="1">
                          <a:solidFill>
                            <a:srgbClr val="FFC000"/>
                          </a:solidFill>
                          <a:effectLst/>
                          <a:latin typeface="Amasis MT Pro" panose="02040504050005020304" pitchFamily="18" charset="0"/>
                        </a:rPr>
                        <a:t>7,6</a:t>
                      </a:r>
                    </a:p>
                  </a:txBody>
                  <a:tcPr marL="83279" marR="83279" marT="41639" marB="416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k-SK" sz="2400" b="1">
                          <a:solidFill>
                            <a:srgbClr val="FFC000"/>
                          </a:solidFill>
                          <a:effectLst/>
                          <a:latin typeface="Amasis MT Pro" panose="02040504050005020304" pitchFamily="18" charset="0"/>
                        </a:rPr>
                        <a:t>10</a:t>
                      </a:r>
                    </a:p>
                  </a:txBody>
                  <a:tcPr marL="83279" marR="83279" marT="41639" marB="416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k-SK" sz="2400" b="1">
                          <a:solidFill>
                            <a:srgbClr val="FFC000"/>
                          </a:solidFill>
                          <a:effectLst/>
                          <a:latin typeface="Amasis MT Pro" panose="02040504050005020304" pitchFamily="18" charset="0"/>
                        </a:rPr>
                        <a:t>13</a:t>
                      </a:r>
                    </a:p>
                  </a:txBody>
                  <a:tcPr marL="83279" marR="83279" marT="41639" marB="416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392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4605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7A551125-F0EE-C57E-D1EA-7198ACDBF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Regionálna citrátová antikoagulácia, © MUDr. Ľubomír Polaščín, 2023</a:t>
            </a:r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C41A292B-E7E5-964F-10C1-F546D6A4C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15DD4-BDE8-4D33-9788-70D3C86E930C}" type="slidenum">
              <a:rPr lang="sk-SK" smtClean="0"/>
              <a:pPr/>
              <a:t>5</a:t>
            </a:fld>
            <a:r>
              <a:rPr lang="sk-SK"/>
              <a:t>.</a:t>
            </a:r>
            <a:endParaRPr lang="sk-SK" dirty="0"/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95017D23-C842-9528-1D2E-939E41E87DEE}"/>
              </a:ext>
            </a:extLst>
          </p:cNvPr>
          <p:cNvSpPr txBox="1"/>
          <p:nvPr/>
        </p:nvSpPr>
        <p:spPr>
          <a:xfrm>
            <a:off x="696000" y="874455"/>
            <a:ext cx="10800000" cy="51090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sk-SK" sz="28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masis MT Pro" panose="02040504050005020304" pitchFamily="18" charset="0"/>
              </a:rPr>
              <a:t>Citrát sodný</a:t>
            </a:r>
          </a:p>
          <a:p>
            <a:endParaRPr lang="sk-SK" sz="2400">
              <a:latin typeface="Amasis MT Pro" panose="02040504050005020304" pitchFamily="18" charset="0"/>
            </a:endParaRPr>
          </a:p>
          <a:p>
            <a:r>
              <a:rPr lang="sk-SK" sz="2000">
                <a:latin typeface="Amasis MT Pro" panose="02040504050005020304" pitchFamily="18" charset="0"/>
              </a:rPr>
              <a:t>Citrát trisodný (iné názvy: citrát sodný, citran trisodný, citran sodný, citrónan trisodný, citrónan sodný; C</a:t>
            </a:r>
            <a:r>
              <a:rPr lang="sk-SK" sz="2000" baseline="-25000">
                <a:latin typeface="Amasis MT Pro" panose="02040504050005020304" pitchFamily="18" charset="0"/>
              </a:rPr>
              <a:t>3</a:t>
            </a:r>
            <a:r>
              <a:rPr lang="sk-SK" sz="2000">
                <a:latin typeface="Amasis MT Pro" panose="02040504050005020304" pitchFamily="18" charset="0"/>
              </a:rPr>
              <a:t>H</a:t>
            </a:r>
            <a:r>
              <a:rPr lang="sk-SK" sz="2000" baseline="-25000">
                <a:latin typeface="Amasis MT Pro" panose="02040504050005020304" pitchFamily="18" charset="0"/>
              </a:rPr>
              <a:t>5</a:t>
            </a:r>
            <a:r>
              <a:rPr lang="sk-SK" sz="2000">
                <a:latin typeface="Amasis MT Pro" panose="02040504050005020304" pitchFamily="18" charset="0"/>
              </a:rPr>
              <a:t>O(COONa)</a:t>
            </a:r>
            <a:r>
              <a:rPr lang="sk-SK" sz="2000" baseline="-25000">
                <a:latin typeface="Amasis MT Pro" panose="02040504050005020304" pitchFamily="18" charset="0"/>
              </a:rPr>
              <a:t>3</a:t>
            </a:r>
            <a:r>
              <a:rPr lang="sk-SK" sz="2000">
                <a:latin typeface="Amasis MT Pro" panose="02040504050005020304" pitchFamily="18" charset="0"/>
              </a:rPr>
              <a:t>) je soľ kyseliny citrónovej s tromi sodíkovými atómami v molekule. </a:t>
            </a:r>
          </a:p>
          <a:p>
            <a:r>
              <a:rPr lang="sk-SK" sz="1600">
                <a:latin typeface="Amasis MT Pro" panose="02040504050005020304" pitchFamily="18" charset="0"/>
              </a:rPr>
              <a:t>{citronan sodný C6H5Na3O7, hydrogencitronan sodný C6H6Na2O7, dihydrogencitronan sodný C6H7NaO7}</a:t>
            </a:r>
            <a:endParaRPr lang="sk-SK" sz="2000">
              <a:latin typeface="Amasis MT Pro" panose="02040504050005020304" pitchFamily="18" charset="0"/>
            </a:endParaRPr>
          </a:p>
          <a:p>
            <a:endParaRPr lang="sk-SK" sz="2400">
              <a:latin typeface="Amasis MT Pro" panose="02040504050005020304" pitchFamily="18" charset="0"/>
            </a:endParaRPr>
          </a:p>
          <a:p>
            <a:r>
              <a:rPr lang="sk-SK" sz="2400" b="1">
                <a:latin typeface="Amasis MT Pro" panose="02040504050005020304" pitchFamily="18" charset="0"/>
              </a:rPr>
              <a:t>Natrium Citricum 4% </a:t>
            </a:r>
            <a:r>
              <a:rPr lang="sk-SK" sz="2400">
                <a:latin typeface="Amasis MT Pro" panose="02040504050005020304" pitchFamily="18" charset="0"/>
              </a:rPr>
              <a:t>(Trisodium citrate 136 mM)</a:t>
            </a:r>
          </a:p>
          <a:p>
            <a:endParaRPr lang="sk-SK" sz="2400">
              <a:latin typeface="Amasis MT Pro" panose="02040504050005020304" pitchFamily="18" charset="0"/>
            </a:endParaRPr>
          </a:p>
          <a:p>
            <a:r>
              <a:rPr lang="sk-SK" sz="2400">
                <a:latin typeface="Amasis MT Pro" panose="02040504050005020304" pitchFamily="18" charset="0"/>
              </a:rPr>
              <a:t>Antikoagulačný roztok 4% citrátu sodného (Trisodium citrate 136 mM)</a:t>
            </a:r>
          </a:p>
          <a:p>
            <a:endParaRPr lang="sk-SK" sz="2400">
              <a:latin typeface="Amasis MT Pro" panose="02040504050005020304" pitchFamily="18" charset="0"/>
            </a:endParaRPr>
          </a:p>
          <a:p>
            <a:r>
              <a:rPr lang="sk-SK" sz="2400" u="sng">
                <a:latin typeface="Amasis MT Pro" panose="02040504050005020304" pitchFamily="18" charset="0"/>
              </a:rPr>
              <a:t>Natrii citras 			</a:t>
            </a:r>
            <a:r>
              <a:rPr lang="sk-SK" sz="2400" b="1" u="sng">
                <a:latin typeface="Amasis MT Pro" panose="02040504050005020304" pitchFamily="18" charset="0"/>
              </a:rPr>
              <a:t>136 mmol/L</a:t>
            </a:r>
          </a:p>
          <a:p>
            <a:r>
              <a:rPr lang="sk-SK" sz="2400">
                <a:latin typeface="Amasis MT Pro" panose="02040504050005020304" pitchFamily="18" charset="0"/>
              </a:rPr>
              <a:t>Na</a:t>
            </a:r>
            <a:r>
              <a:rPr lang="sk-SK" sz="2400" baseline="30000">
                <a:latin typeface="Amasis MT Pro" panose="02040504050005020304" pitchFamily="18" charset="0"/>
              </a:rPr>
              <a:t>+</a:t>
            </a:r>
            <a:r>
              <a:rPr lang="sk-SK" sz="2400">
                <a:latin typeface="Amasis MT Pro" panose="02040504050005020304" pitchFamily="18" charset="0"/>
              </a:rPr>
              <a:t> 				408 mmol/L</a:t>
            </a:r>
          </a:p>
          <a:p>
            <a:r>
              <a:rPr lang="sk-SK" sz="2400">
                <a:latin typeface="Amasis MT Pro" panose="02040504050005020304" pitchFamily="18" charset="0"/>
              </a:rPr>
              <a:t>C</a:t>
            </a:r>
            <a:r>
              <a:rPr lang="sk-SK" sz="2400" baseline="-25000">
                <a:latin typeface="Amasis MT Pro" panose="02040504050005020304" pitchFamily="18" charset="0"/>
              </a:rPr>
              <a:t>6</a:t>
            </a:r>
            <a:r>
              <a:rPr lang="sk-SK" sz="2400">
                <a:latin typeface="Amasis MT Pro" panose="02040504050005020304" pitchFamily="18" charset="0"/>
              </a:rPr>
              <a:t>H</a:t>
            </a:r>
            <a:r>
              <a:rPr lang="sk-SK" sz="2400" baseline="-25000">
                <a:latin typeface="Amasis MT Pro" panose="02040504050005020304" pitchFamily="18" charset="0"/>
              </a:rPr>
              <a:t>5</a:t>
            </a:r>
            <a:r>
              <a:rPr lang="sk-SK" sz="2400">
                <a:latin typeface="Amasis MT Pro" panose="02040504050005020304" pitchFamily="18" charset="0"/>
              </a:rPr>
              <a:t>O</a:t>
            </a:r>
            <a:r>
              <a:rPr lang="sk-SK" sz="2400" baseline="-25000">
                <a:latin typeface="Amasis MT Pro" panose="02040504050005020304" pitchFamily="18" charset="0"/>
              </a:rPr>
              <a:t>7</a:t>
            </a:r>
            <a:r>
              <a:rPr lang="sk-SK" sz="2400" baseline="30000">
                <a:latin typeface="Amasis MT Pro" panose="02040504050005020304" pitchFamily="18" charset="0"/>
              </a:rPr>
              <a:t>-3</a:t>
            </a:r>
            <a:r>
              <a:rPr lang="sk-SK" sz="2400">
                <a:latin typeface="Amasis MT Pro" panose="02040504050005020304" pitchFamily="18" charset="0"/>
              </a:rPr>
              <a:t> 			138,4 mmol/L</a:t>
            </a:r>
          </a:p>
          <a:p>
            <a:r>
              <a:rPr lang="sk-SK" sz="2400">
                <a:latin typeface="Amasis MT Pro" panose="02040504050005020304" pitchFamily="18" charset="0"/>
              </a:rPr>
              <a:t>Teoretická osmolarita	554 mosmol/L</a:t>
            </a:r>
          </a:p>
        </p:txBody>
      </p:sp>
      <p:sp>
        <p:nvSpPr>
          <p:cNvPr id="7" name="AutoShape 2" descr="Citrát trisodný">
            <a:extLst>
              <a:ext uri="{FF2B5EF4-FFF2-40B4-BE49-F238E27FC236}">
                <a16:creationId xmlns:a16="http://schemas.microsoft.com/office/drawing/2014/main" id="{1C3A52CC-2749-9C77-7942-5BB9D3123C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k-SK"/>
          </a:p>
        </p:txBody>
      </p:sp>
      <p:pic>
        <p:nvPicPr>
          <p:cNvPr id="9" name="Grafický objekt 8">
            <a:extLst>
              <a:ext uri="{FF2B5EF4-FFF2-40B4-BE49-F238E27FC236}">
                <a16:creationId xmlns:a16="http://schemas.microsoft.com/office/drawing/2014/main" id="{09909222-2024-5DCE-1414-F664019FC4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73745" y="4167763"/>
            <a:ext cx="4505325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924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591</Words>
  <Application>Microsoft Office PowerPoint</Application>
  <PresentationFormat>Širokouhlá</PresentationFormat>
  <Paragraphs>108</Paragraphs>
  <Slides>5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5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5</vt:i4>
      </vt:variant>
    </vt:vector>
  </HeadingPairs>
  <TitlesOfParts>
    <vt:vector size="11" baseType="lpstr">
      <vt:lpstr>Amasis MT Pro</vt:lpstr>
      <vt:lpstr>Aptos</vt:lpstr>
      <vt:lpstr>Arial</vt:lpstr>
      <vt:lpstr>Calibri</vt:lpstr>
      <vt:lpstr>Wingdings</vt:lpstr>
      <vt:lpstr>Motív Office</vt:lpstr>
      <vt:lpstr>Regionálna citrátová antikoagulácia  (napr. Ci-Ca CVVHD)</vt:lpstr>
      <vt:lpstr>Počiatočné parametre regionálnej citrátovej antikoagulácie pri CVVH</vt:lpstr>
      <vt:lpstr>Prezentácia programu PowerPoint</vt:lpstr>
      <vt:lpstr>Prezentácia programu PowerPoint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Regionálna citrátová antikoagulácia  (napr. Ci-Ca CVVHD)</dc:title>
  <dc:creator>Ľubomír Polaščín</dc:creator>
  <cp:lastModifiedBy>Ľubomír Polaščín</cp:lastModifiedBy>
  <cp:revision>1</cp:revision>
  <dcterms:created xsi:type="dcterms:W3CDTF">2023-12-09T14:25:14Z</dcterms:created>
  <dcterms:modified xsi:type="dcterms:W3CDTF">2023-12-09T14:30:22Z</dcterms:modified>
</cp:coreProperties>
</file>